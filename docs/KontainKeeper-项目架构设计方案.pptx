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80160"/>
            <a:ext cx="1188720" cy="64008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0"/>
            <a:ext cx="1188720" cy="5486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1920240"/>
            <a:ext cx="548640" cy="10058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1371600"/>
            <a:ext cx="731520" cy="10058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0" y="2377440"/>
            <a:ext cx="182880" cy="91440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2651760"/>
            <a:ext cx="1188720" cy="27432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0" y="2926080"/>
            <a:ext cx="914400" cy="91440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2926080"/>
            <a:ext cx="1554480" cy="73152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651760"/>
            <a:ext cx="365760" cy="10058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3840480"/>
            <a:ext cx="1371600" cy="36576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81360" y="3291840"/>
            <a:ext cx="640080" cy="5486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0" y="4206240"/>
            <a:ext cx="731520" cy="73152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4206240"/>
            <a:ext cx="548640" cy="5486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3657600"/>
            <a:ext cx="548640" cy="109728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4754880"/>
            <a:ext cx="1280160" cy="18288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8452" y="1239012"/>
            <a:ext cx="82296" cy="82296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363456" y="1865376"/>
            <a:ext cx="109728" cy="109728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70464" y="1335024"/>
            <a:ext cx="73152" cy="73152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292840" y="2331720"/>
            <a:ext cx="91440" cy="9144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84664" y="2843784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746236" y="2619756"/>
            <a:ext cx="64008" cy="64008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821924" y="3781044"/>
            <a:ext cx="118872" cy="118872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468612" y="4165092"/>
            <a:ext cx="82296" cy="82296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362188" y="3607308"/>
            <a:ext cx="100584" cy="100584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84864" y="3255264"/>
            <a:ext cx="73152" cy="73152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195560" y="4892040"/>
            <a:ext cx="91440" cy="9144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929116" y="4722876"/>
            <a:ext cx="64008" cy="64008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KONTAINKEEPER · TECH REVIEW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17830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项目架构设计方案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502920" y="2971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主机直连管理与指标提取平台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出站 MQTT · Broker 承载可靠性 · 服务端无状态桥接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" y="3977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· 协议 v3 · 目标规模 500 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8912" y="5806440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5751576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" y="5888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310128" y="5751576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24912" y="5888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007608" y="5751576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22392" y="5888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705088" y="5751576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5888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11402568" y="5751576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17352" y="5888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 · 演进脉络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一条时间线，讲完五件事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731520" y="3630168"/>
            <a:ext cx="1072591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8580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1344168" y="3557016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43251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入站拉取走不通时，出站推送是唯一解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6324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3721608" y="3557016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743200" y="43251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可靠性整体下沉 Broker，服务端无状态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4068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6099048" y="3557016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0640" y="43251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三层四主题，QoS 与 retain 是硬约束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81812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600" dirty="0"/>
          </a:p>
        </p:txBody>
      </p:sp>
      <p:sp>
        <p:nvSpPr>
          <p:cNvPr id="30" name="Shape 28"/>
          <p:cNvSpPr/>
          <p:nvPr/>
        </p:nvSpPr>
        <p:spPr>
          <a:xfrm>
            <a:off x="8476488" y="3557016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98080" y="43251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 / 命令 / 自更新 / 鉴权四个扩展面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19556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10853928" y="3557016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875520" y="43251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近中远三期候选路线，从工具到平台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业界对比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业界方案对比：入站拉取 vs 出站推送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920240"/>
                <a:gridCol w="1828800"/>
                <a:gridCol w="1874520"/>
                <a:gridCol w="1965960"/>
                <a:gridCol w="19019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通道模型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主机侧改造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服务端形态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离线能力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场景适配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Zabbix Agent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被动检查为主 · 需入站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安装系统服务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Server + DB 有状态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内置队列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传统机房通用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Prometheus + Exporter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HTTP 拉取 /metrics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暴露抓取端口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TSDB 常驻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依赖抓取周期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K8S 生态标配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Telegraf + InfluxDB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插件推送 HTTP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 Agent 配输出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TSDB 常驻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有限缓冲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指标管道自由组合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 SaaS（Datadog 类）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出站上云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 Agent 联外网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全托管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D6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预算充足 · 快速上线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KontainKeeper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AF1F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出站 MQTT 单通道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AF1F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镜像内置单二进制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AF1F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无状态 · 水平扩容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AF1F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Broker 排队 + LWT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AF1F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受限内网 · 容器 IDE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0" y="5394960"/>
            <a:ext cx="12198096" cy="658368"/>
          </a:xfrm>
          <a:prstGeom prst="rect">
            <a:avLst/>
          </a:prstGeom>
          <a:solidFill>
            <a:srgbClr val="121D36"/>
          </a:solidFill>
          <a:ln w="6350">
            <a:solidFill>
              <a:srgbClr val="263A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3949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硬约束：不动宿主机 · 不用 K8S 入站 · 用户无感知  ——  </a:t>
            </a:r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唯一可行路径：主机主动连出去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业界对比 · 演进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从自研到开源：协议三次演进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822960" y="2788920"/>
            <a:ext cx="1051560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68680" y="2121408"/>
            <a:ext cx="2468880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· 自研 WebSocket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029968" y="2715768"/>
            <a:ext cx="146304" cy="146304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00400"/>
            <a:ext cx="3474720" cy="2194560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467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自研全栈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37490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内存连接表 + 手写补发 + 超时判定 ≈ 200 行，多处缺陷</a:t>
            </a:r>
            <a:endParaRPr lang="en-US" sz="1200" dirty="0"/>
          </a:p>
          <a:p>
            <a:pPr marL="101600" indent="-1016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手工解析 /proc 233 行，仅覆盖 Linux</a:t>
            </a:r>
            <a:endParaRPr lang="en-US" sz="1200" dirty="0"/>
          </a:p>
          <a:p>
            <a:pPr marL="101600" indent="-1016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RFC6455 WebSocket 261 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121408"/>
            <a:ext cx="2468880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· MQTT + token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07608" y="2715768"/>
            <a:ext cx="146304" cy="146304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3200400"/>
            <a:ext cx="3474720" cy="2194560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3467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可靠性移交 Broker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37490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引入主题布局 + QoS 分级</a:t>
            </a:r>
            <a:endParaRPr lang="en-US" sz="1200" dirty="0"/>
          </a:p>
          <a:p>
            <a:pPr marL="101600" indent="-1016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重连 / 离线排队 / LWT 全部下沉 Mosquitto</a:t>
            </a:r>
            <a:endParaRPr lang="en-US" sz="1200" dirty="0"/>
          </a:p>
          <a:p>
            <a:pPr marL="101600" indent="-1016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token 接入认证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23960" y="2121408"/>
            <a:ext cx="2468880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· 匿名 + 白名单（现行）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985248" y="2715768"/>
            <a:ext cx="146304" cy="146304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3200400"/>
            <a:ext cx="3474720" cy="2194560"/>
          </a:xfrm>
          <a:prstGeom prst="rect">
            <a:avLst/>
          </a:prstGeom>
          <a:solidFill>
            <a:srgbClr val="1A2A4A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3467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零凭据 + 白名单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49640" y="37490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Broker 匿名开放，镜像只烧 KK_SERVER 等非敏感配置</a:t>
            </a:r>
            <a:endParaRPr lang="en-US" sz="1200" dirty="0"/>
          </a:p>
          <a:p>
            <a:pPr marL="101600" indent="-1016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KK_AGENT_IPS 白名单管控接入，帧自报 ip</a:t>
            </a:r>
            <a:endParaRPr lang="en-US" sz="1200" dirty="0"/>
          </a:p>
          <a:p>
            <a:pPr marL="101600" indent="-1016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可选加固：password_file + ACL 鉴权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迁移账本：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494 行</a:t>
            </a:r>
            <a:pPr indent="0" marL="0">
              <a:buNone/>
            </a:pPr>
            <a:r>
              <a:rPr lang="en-US" sz="13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自研传输/采集代码退场（233 行 /proc 解析 + 261 行自研 WS），新增部署单元仅 1 个 Mosquitto（EPL/EDL）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方案优势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方案优势：把可靠性难题整体外包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457200" y="16916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" y="2368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入站端口暴露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唯一通道是出站 MQTT，主机零端口暴露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25–35MB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57200" y="3849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常驻 RSS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4142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 CPU &lt; 0.1%，对业务进程无感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542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≈200 行 → 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" y="5330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自研连接管理代码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5623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 MQTT 迁移整体清零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1691640"/>
            <a:ext cx="402336" cy="402336"/>
          </a:xfrm>
          <a:prstGeom prst="roundRect">
            <a:avLst>
              <a:gd name="adj" fmla="val 9091"/>
            </a:avLst>
          </a:prstGeom>
          <a:solidFill>
            <a:srgbClr val="1A2A4A"/>
          </a:solidFill>
          <a:ln w="9525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0" y="16733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服务端无状态，水平扩容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120640" y="2057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 / 重连 / 离线排队 / 在线判定整体由 Broker 承担；多实例仅需 client_id 唯一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26280" y="2660904"/>
            <a:ext cx="7178040" cy="0"/>
          </a:xfrm>
          <a:prstGeom prst="line">
            <a:avLst/>
          </a:prstGeom>
          <a:noFill/>
          <a:ln w="9525">
            <a:solidFill>
              <a:srgbClr val="263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2788920"/>
            <a:ext cx="402336" cy="402336"/>
          </a:xfrm>
          <a:prstGeom prst="roundRect">
            <a:avLst>
              <a:gd name="adj" fmla="val 9091"/>
            </a:avLst>
          </a:prstGeom>
          <a:solidFill>
            <a:srgbClr val="1A2A4A"/>
          </a:solidFill>
          <a:ln w="9525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20640" y="27706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用户零感知接入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12064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镜像制作期 entrypoint 透传原启动命令，崩溃 5s 自动拉起；容器用户完全不改变习惯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26280" y="3758184"/>
            <a:ext cx="7178040" cy="0"/>
          </a:xfrm>
          <a:prstGeom prst="line">
            <a:avLst/>
          </a:prstGeom>
          <a:noFill/>
          <a:ln w="9525">
            <a:solidFill>
              <a:srgbClr val="263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3886200"/>
            <a:ext cx="402336" cy="402336"/>
          </a:xfrm>
          <a:prstGeom prst="roundRect">
            <a:avLst>
              <a:gd name="adj" fmla="val 9091"/>
            </a:avLst>
          </a:prstGeom>
          <a:solidFill>
            <a:srgbClr val="1A2A4A"/>
          </a:solidFill>
          <a:ln w="9525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120640" y="38679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三库通用零迁移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120640" y="4251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/ PostgreSQL / MySQL 一套代码；方言差异收敛在 _upsert / _ensure_schema 两处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26280" y="4855464"/>
            <a:ext cx="7178040" cy="0"/>
          </a:xfrm>
          <a:prstGeom prst="line">
            <a:avLst/>
          </a:prstGeom>
          <a:noFill/>
          <a:ln w="9525">
            <a:solidFill>
              <a:srgbClr val="263A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4983480"/>
            <a:ext cx="402336" cy="402336"/>
          </a:xfrm>
          <a:prstGeom prst="roundRect">
            <a:avLst>
              <a:gd name="adj" fmla="val 9091"/>
            </a:avLst>
          </a:prstGeom>
          <a:solidFill>
            <a:srgbClr val="1A2A4A"/>
          </a:solidFill>
          <a:ln w="9525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120640" y="49651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安全面收敛可审计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120640" y="5349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命令黑名单源头拦截 + 全量审计；IP 白名单接入管控；自更新 sha256/HMAC 校验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方案优势 · 容量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数字看方案：500 台规模下的余量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457200" y="18288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8.3</a:t>
            </a:r>
            <a:endParaRPr lang="en-US" sz="8800" dirty="0"/>
          </a:p>
        </p:txBody>
      </p:sp>
      <p:sp>
        <p:nvSpPr>
          <p:cNvPr id="17" name="Text 15"/>
          <p:cNvSpPr/>
          <p:nvPr/>
        </p:nvSpPr>
        <p:spPr>
          <a:xfrm>
            <a:off x="50292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msg/s · 心跳流量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3675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 台 × 60s 心跳间隔（±10% 抖动打散峰值）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每帧 2–4KB · Mosquitto 万级 msg/s 吞吐，余量 &gt; 100×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20640" y="1783080"/>
            <a:ext cx="3154680" cy="1554480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1947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8–12MB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321808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单文件二进制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21808" y="27889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 打包，含 psutil + paho 增量 ≈ 3MB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03920" y="1783080"/>
            <a:ext cx="3154680" cy="1554480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1947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0.1%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705088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 CPU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05088" y="27889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60s 一帧默认节奏，目标主机无感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20640" y="3566160"/>
            <a:ext cx="3154680" cy="1554480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3730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几百 MB/年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321808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存储成本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45720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 2 天聚合 + hourly 90 天 + 命令 30 天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03920" y="3566160"/>
            <a:ext cx="3154680" cy="1554480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5088" y="3730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4MB / 48KB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705088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输出上限 / 分块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05088" y="45720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超限截断置 truncated，rc=-3 终态不静默丢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口径：docs/design.md §6 容量估算，规模目标 500 台。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技术架构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技术架构总览：三层四主题一条通道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548640" y="1554480"/>
            <a:ext cx="11091672" cy="1115568"/>
          </a:xfrm>
          <a:prstGeom prst="roundRect">
            <a:avLst>
              <a:gd name="adj" fmla="val 4918"/>
            </a:avLst>
          </a:prstGeom>
          <a:solidFill>
            <a:srgbClr val="121D36"/>
          </a:solidFill>
          <a:ln w="12700">
            <a:solidFill>
              <a:srgbClr val="263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6459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主机内 Agent — kk-agent 单二进制（8–12MB）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1851660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psutil 采集 × 8 项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85516" y="2103120"/>
            <a:ext cx="2144268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命令执行器 · argv 直传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49240" y="2103120"/>
            <a:ext cx="1824228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插件热加载 · mtime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92924" y="2103120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自更新 · sha256 + execv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234440" y="2706624"/>
            <a:ext cx="0" cy="420624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691640" y="2706624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出站 MQTT : 1883 — 主机零端口暴露 · hb QoS0 / result·cmd QoS1（唯一通道）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163824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121D36"/>
          </a:solidFill>
          <a:ln w="12700">
            <a:solidFill>
              <a:srgbClr val="263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25526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Mosquitto 2.x — MQTT Broker（可靠性中枢）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3639312"/>
            <a:ext cx="996696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LWT 遗嘱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130552" y="3639312"/>
            <a:ext cx="1632204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retained status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982212" y="3639312"/>
            <a:ext cx="2304288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持久会话 + QoS1 离线排队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05956" y="3639312"/>
            <a:ext cx="3287268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匿名开放 · 可选 password_file + ACL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234440" y="4206240"/>
            <a:ext cx="0" cy="42062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691640" y="420624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 hb / status / result · 发布 cmd — 无长连接状态，服务端重启即恢复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663440"/>
            <a:ext cx="11091672" cy="1353312"/>
          </a:xfrm>
          <a:prstGeom prst="roundRect">
            <a:avLst>
              <a:gd name="adj" fmla="val 4054"/>
            </a:avLst>
          </a:prstGeom>
          <a:solidFill>
            <a:srgbClr val="121D36"/>
          </a:solidFill>
          <a:ln w="12700">
            <a:solidFill>
              <a:srgbClr val="263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7548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 kk-server — FastAPI · 无状态桥接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5084064"/>
            <a:ext cx="2084832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MqttBridge 无状态桥接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218688" y="5084064"/>
            <a:ext cx="2011680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/api/* 会话鉴权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49824" y="5084064"/>
            <a:ext cx="2587752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Store · SQLAlchemy 2 async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57032" y="5084064"/>
            <a:ext cx="2203704" cy="402336"/>
          </a:xfrm>
          <a:prstGeom prst="roundRect">
            <a:avLst>
              <a:gd name="adj" fmla="val 11364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构建产物单端口托管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14400" y="55961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三库 KK_DB_URL 三选一：SQLite / PostgreSQL / MySQL，驱动按需安装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技术架构 · 协议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主题布局：QoS 与 retain 是硬约束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2084832" y="2414016"/>
            <a:ext cx="3236976" cy="0"/>
          </a:xfrm>
          <a:prstGeom prst="line">
            <a:avLst/>
          </a:prstGeom>
          <a:noFill/>
          <a:ln w="19050">
            <a:solidFill>
              <a:srgbClr val="3148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39712" y="2414016"/>
            <a:ext cx="3236976" cy="0"/>
          </a:xfrm>
          <a:prstGeom prst="line">
            <a:avLst/>
          </a:prstGeom>
          <a:noFill/>
          <a:ln w="19050">
            <a:solidFill>
              <a:srgbClr val="31486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212848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kk/v1/{host}/status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12848" y="201168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A2A4A"/>
          </a:solidFill>
          <a:ln w="9525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QoS 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62656" y="2011680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1A2A4A"/>
          </a:solidFill>
          <a:ln w="9525">
            <a:solidFill>
              <a:srgbClr val="F5A62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retain 是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67728" y="1700784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LWT 遗嘱兼用；服务端重启靠 retained 立刻恢复全量在线视图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84832" y="3328416"/>
            <a:ext cx="3236976" cy="0"/>
          </a:xfrm>
          <a:prstGeom prst="line">
            <a:avLst/>
          </a:prstGeom>
          <a:noFill/>
          <a:ln w="19050">
            <a:solidFill>
              <a:srgbClr val="3148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39712" y="3328416"/>
            <a:ext cx="3236976" cy="0"/>
          </a:xfrm>
          <a:prstGeom prst="line">
            <a:avLst/>
          </a:prstGeom>
          <a:noFill/>
          <a:ln w="19050">
            <a:solidFill>
              <a:srgbClr val="31486E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212848" y="2578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kk/v1/{host}/hb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12848" y="292608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A2A4A"/>
          </a:solidFill>
          <a:ln w="9525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QoS 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62656" y="2926080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retain 否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67728" y="2615184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指标真相在数据库；retain 回放会让重启灌入幽灵心跳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84832" y="4242816"/>
            <a:ext cx="3236976" cy="0"/>
          </a:xfrm>
          <a:prstGeom prst="line">
            <a:avLst/>
          </a:prstGeom>
          <a:noFill/>
          <a:ln w="19050">
            <a:solidFill>
              <a:srgbClr val="31486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39712" y="4242816"/>
            <a:ext cx="3236976" cy="0"/>
          </a:xfrm>
          <a:prstGeom prst="line">
            <a:avLst/>
          </a:prstGeom>
          <a:noFill/>
          <a:ln w="19050">
            <a:solidFill>
              <a:srgbClr val="31486E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212848" y="3493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kk/v1/{host}/result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212848" y="384048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A2A4A"/>
          </a:solidFill>
          <a:ln w="9525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QoS 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62656" y="3840480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retain 否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67728" y="3529584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结果必达；48KB 分块，任一分块失败补发 rc=-3 终态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flipH="1">
            <a:off x="2084832" y="5157216"/>
            <a:ext cx="3236976" cy="0"/>
          </a:xfrm>
          <a:prstGeom prst="line">
            <a:avLst/>
          </a:prstGeom>
          <a:noFill/>
          <a:ln w="19050">
            <a:solidFill>
              <a:srgbClr val="31486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6839712" y="5157216"/>
            <a:ext cx="3236976" cy="0"/>
          </a:xfrm>
          <a:prstGeom prst="line">
            <a:avLst/>
          </a:prstGeom>
          <a:noFill/>
          <a:ln w="19050">
            <a:solidFill>
              <a:srgbClr val="31486E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212848" y="4407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kk/v1/{host}/cmd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212848" y="475488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A2A4A"/>
          </a:solidFill>
          <a:ln w="9525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QoS 1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962656" y="4754880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1A2A4A"/>
          </a:solidFill>
          <a:ln w="9525">
            <a:solidFill>
              <a:srgbClr val="263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retain 否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967728" y="4443984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离线由持久会话排队，重连自动补投；服务端不做补发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1591056"/>
            <a:ext cx="1554480" cy="3657600"/>
          </a:xfrm>
          <a:prstGeom prst="rect">
            <a:avLst/>
          </a:prstGeom>
          <a:solidFill>
            <a:srgbClr val="121D36"/>
          </a:solidFill>
          <a:ln w="12700">
            <a:solidFill>
              <a:srgbClr val="263A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1591056"/>
            <a:ext cx="1554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7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kk-agent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5394960" y="1591056"/>
            <a:ext cx="1371600" cy="3657600"/>
          </a:xfrm>
          <a:prstGeom prst="rect">
            <a:avLst/>
          </a:prstGeom>
          <a:solidFill>
            <a:srgbClr val="1A2A4A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0" y="1591056"/>
            <a:ext cx="1371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Mosquitto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2.x Broker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149840" y="1591056"/>
            <a:ext cx="1554480" cy="3657600"/>
          </a:xfrm>
          <a:prstGeom prst="rect">
            <a:avLst/>
          </a:prstGeom>
          <a:solidFill>
            <a:srgbClr val="121D36"/>
          </a:solidFill>
          <a:ln w="12700">
            <a:solidFill>
              <a:srgbClr val="263A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49840" y="1591056"/>
            <a:ext cx="1554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kk-server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MqttBridge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7200" y="5413248"/>
            <a:ext cx="5394960" cy="749808"/>
          </a:xfrm>
          <a:prstGeom prst="rect">
            <a:avLst/>
          </a:prstGeom>
          <a:solidFill>
            <a:srgbClr val="121D36"/>
          </a:solidFill>
          <a:ln w="6350">
            <a:solidFill>
              <a:srgbClr val="263A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541324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 绝不 retain —— retained 心跳随服务端建订阅整批回放，按帧内 ts 落库即成「刚刚上报」的幽灵点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27648" y="5413248"/>
            <a:ext cx="5394960" cy="749808"/>
          </a:xfrm>
          <a:prstGeom prst="rect">
            <a:avLst/>
          </a:prstGeom>
          <a:solidFill>
            <a:srgbClr val="121D36"/>
          </a:solidFill>
          <a:ln w="6350">
            <a:solidFill>
              <a:srgbClr val="263A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541324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QoS1 结果不做在线预检 —— publish() 本身入 out-queue 重连重发，预检等于自己短路离线排队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技术架构 · 工程化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服务端工程：无状态 MVC 与方言收敛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457200" y="1627632"/>
            <a:ext cx="5760720" cy="859536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7373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 — REST /api/*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20848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 / 命令 / 审计 / 自更新 / stats · 会话鉴权 12h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5760720" cy="859536"/>
          </a:xfrm>
          <a:prstGeom prst="rect">
            <a:avLst/>
          </a:prstGeom>
          <a:solidFill>
            <a:srgbClr val="121D36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7249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— MqttBridge · security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30723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无状态桥接四主题 · 命令黑名单源头拦截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02736"/>
            <a:ext cx="5760720" cy="859536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71246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— SQLAlchemy 2 Core async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40599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Store 心跳/命令/审计/聚合回收 · 三库方言收敛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90288"/>
            <a:ext cx="5760720" cy="859536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70001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— Vue3 构建产物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50474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六个业务页 · REST 轮询 10s / 30s / 5s · 单端口托管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16276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工程纪律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75120" y="2121408"/>
            <a:ext cx="82296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20208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方言差异只收两处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23317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LONGTEXT 防静默截断 · 定长主键 · INSERT IGNORE upsert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3017520"/>
            <a:ext cx="82296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29169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自动补列零迁移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22783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create_all 只建表；新增列登记 _ADD_COLUMNS 自动 ALTER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3913632"/>
            <a:ext cx="82296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3813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分批删按主键 IN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41239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 不支持 DELETE…LIMIT，跨方言统一主键批删防锁表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0" y="4809744"/>
            <a:ext cx="82296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47091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日志单一后端 loguru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502005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新代码禁 import logging（静态用例锁住）· diagnose=False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5742432"/>
            <a:ext cx="12198096" cy="512064"/>
          </a:xfrm>
          <a:prstGeom prst="rect">
            <a:avLst/>
          </a:prstGeom>
          <a:solidFill>
            <a:srgbClr val="121D36"/>
          </a:solidFill>
          <a:ln w="6350">
            <a:solidFill>
              <a:srgbClr val="263A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7424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流水线（Jenkinsfile）：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290+ 测试用例</a:t>
            </a:r>
            <a:pPr indent="0" marL="0">
              <a:buNone/>
            </a:pPr>
            <a:r>
              <a:rPr lang="en-US" sz="13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把关 — 测试 → Agent 二进制 → 服务端镜像 → 冒烟 → 推送 → 部署 → 部署验证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B1121"/>
          </a:solidFill>
          <a:ln w="15240">
            <a:solidFill>
              <a:srgbClr val="5A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功能扩展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功能扩展：四个已打通的扩展面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6053328" y="1783080"/>
            <a:ext cx="0" cy="4114800"/>
          </a:xfrm>
          <a:prstGeom prst="line">
            <a:avLst/>
          </a:prstGeom>
          <a:noFill/>
          <a:ln w="19050">
            <a:solidFill>
              <a:srgbClr val="26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203911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103120"/>
            <a:ext cx="5029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27632"/>
            <a:ext cx="5029200" cy="987552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1737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</a:t>
            </a:r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自定义采集插件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" y="207568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plugins/ 任意 *.py 按 mtime 热加载；输出并入心跳 custom 字段；单插件故障 5s 超时隔离，只跳过自身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9320" y="322783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7336" y="3291840"/>
            <a:ext cx="667512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2816352"/>
            <a:ext cx="5029200" cy="987552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0296" y="2926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</a:t>
            </a:r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命令协议四类 kind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0296" y="326440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/ collect / plugin_reload / update；use_shell 支持管道重定向，黑名单 + 全量审计兜底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441655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4480560"/>
            <a:ext cx="5029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05072"/>
            <a:ext cx="5029200" cy="987552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114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</a:t>
            </a:r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自更新闭环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" y="445312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→ 清单 → 下载 → sha256/HMAC 校验 → execv 换进程；reason=updating 等 PUBACK，120s 宽限防抹白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560527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17336" y="5669280"/>
            <a:ext cx="667512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5193792"/>
            <a:ext cx="5029200" cy="987552"/>
          </a:xfrm>
          <a:prstGeom prst="rect">
            <a:avLst/>
          </a:prstGeom>
          <a:solidFill>
            <a:srgbClr val="121D36"/>
          </a:solidFill>
          <a:ln w="9525">
            <a:solidFill>
              <a:srgbClr val="263A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0296" y="5303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</a:t>
            </a:r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精简与按需装配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0296" y="564184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KK_HB_ITEMS 裁剪采集项（agent_ver 不受影响）；--extra 按需装库驱动；Broker 鉴权可选加固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未来展望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未来展望：三期演进路线（候选）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731520" y="2514600"/>
            <a:ext cx="1069848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561320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演进方向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1783080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1A2A4A"/>
          </a:solidFill>
          <a:ln w="9525">
            <a:solidFill>
              <a:srgbClr val="F5A62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· 夯实底座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578608" y="2441448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03580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207008" y="29352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 / MySQL 真库验证与上线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5840" y="378561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368503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告警规则引擎：阈值 → 通知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05840" y="4535424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1207008" y="44348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Broker 持久化 + 监控与高可用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92040" y="1783080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1A2A4A"/>
          </a:solidFill>
          <a:ln w="952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· 体验升级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16168" y="2441448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035808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9" name="Text 27"/>
          <p:cNvSpPr/>
          <p:nvPr/>
        </p:nvSpPr>
        <p:spPr>
          <a:xfrm>
            <a:off x="4544568" y="29352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 → 前端实时推送（SSE / WS）替代轮询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43400" y="3785616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44568" y="368503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Broker 分组联邦，启用共享订阅扩容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43400" y="4535424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3" name="Text 31"/>
          <p:cNvSpPr/>
          <p:nvPr/>
        </p:nvSpPr>
        <p:spPr>
          <a:xfrm>
            <a:off x="4544568" y="44348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 指标导出对接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29600" y="1783080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1A2A4A"/>
          </a:solidFill>
          <a:ln w="952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 · 平台化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253728" y="2441448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3035808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7" name="Text 35"/>
          <p:cNvSpPr/>
          <p:nvPr/>
        </p:nvSpPr>
        <p:spPr>
          <a:xfrm>
            <a:off x="7882128" y="29352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插件分发与配置中心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680960" y="3785616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Text 37"/>
          <p:cNvSpPr/>
          <p:nvPr/>
        </p:nvSpPr>
        <p:spPr>
          <a:xfrm>
            <a:off x="7882128" y="368503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多租户与 RBAC 权限模型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680960" y="4535424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1" name="Text 39"/>
          <p:cNvSpPr/>
          <p:nvPr/>
        </p:nvSpPr>
        <p:spPr>
          <a:xfrm>
            <a:off x="7882128" y="44348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边缘自治：策略下发 + 本地决策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02920" y="5486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推演口径：基于 design.md §8 风险清单与 proto §6 已登记未实现项外推，为候选方向而非版本承诺。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19088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02568" y="6364224"/>
            <a:ext cx="109728" cy="10972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6501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总结：三个设计决策撑起整个方案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4864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45920" y="1737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出站推送是唯一解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45920" y="21579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不能动宿主机、不能用 K8S 入站、用户无感知；主机主动连出去，零端口暴露换最大兼容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761488"/>
            <a:ext cx="11064240" cy="0"/>
          </a:xfrm>
          <a:prstGeom prst="line">
            <a:avLst/>
          </a:prstGeom>
          <a:noFill/>
          <a:ln w="9525">
            <a:solidFill>
              <a:srgbClr val="26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90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45920" y="29443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可靠性整体外包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45920" y="336499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重连 / 排队 / LWT 交给 Mosquitto，≈200 行自研缺陷代码清零，服务端无状态可水平扩容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968496"/>
            <a:ext cx="11064240" cy="0"/>
          </a:xfrm>
          <a:prstGeom prst="line">
            <a:avLst/>
          </a:prstGeom>
          <a:noFill/>
          <a:ln w="9525">
            <a:solidFill>
              <a:srgbClr val="26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970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645920" y="41513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复杂度收敛到少数函数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645920" y="45720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单二进制 · 三库方言收敛两处 · 单一日志后端；改协议四处同步（双端 PROTO_VER + 文档 + 测试）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只管采集与执行 · Broker 只管可靠传输 · Server 只管路由与落库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1188720" cy="64008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1371600"/>
            <a:ext cx="1188720" cy="5486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1920240"/>
            <a:ext cx="548640" cy="10058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1371600"/>
            <a:ext cx="731520" cy="10058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2377440"/>
            <a:ext cx="182880" cy="91440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651760"/>
            <a:ext cx="1188720" cy="27432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926080"/>
            <a:ext cx="914400" cy="91440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26080"/>
            <a:ext cx="1554480" cy="73152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51760"/>
            <a:ext cx="365760" cy="10058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3840480"/>
            <a:ext cx="1371600" cy="36576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3291840"/>
            <a:ext cx="640080" cy="5486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4206240"/>
            <a:ext cx="731520" cy="73152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4206240"/>
            <a:ext cx="548640" cy="54864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57600"/>
            <a:ext cx="548640" cy="109728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4754880"/>
            <a:ext cx="1280160" cy="18288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" y="1239012"/>
            <a:ext cx="82296" cy="82296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65376" y="1865376"/>
            <a:ext cx="109728" cy="109728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72384" y="1335024"/>
            <a:ext cx="73152" cy="73152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94760" y="2331720"/>
            <a:ext cx="91440" cy="9144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86584" y="2843784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48156" y="2619756"/>
            <a:ext cx="64008" cy="64008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23844" y="3781044"/>
            <a:ext cx="118872" cy="118872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70532" y="4165092"/>
            <a:ext cx="82296" cy="82296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64108" y="3607308"/>
            <a:ext cx="100584" cy="100584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86784" y="3255264"/>
            <a:ext cx="73152" cy="73152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97480" y="4892040"/>
            <a:ext cx="91440" cy="9144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31036" y="4722876"/>
            <a:ext cx="64008" cy="64008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355848" y="1965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AF1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3355848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KontainKeeper · 项目架构设计方案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55848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E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· 协议 v3 · 目标规模 500 台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8912" y="5029200"/>
            <a:ext cx="11247120" cy="0"/>
          </a:xfrm>
          <a:prstGeom prst="line">
            <a:avLst/>
          </a:prstGeom>
          <a:noFill/>
          <a:ln w="12700">
            <a:solidFill>
              <a:srgbClr val="263A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" y="4974336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" y="5111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业界对比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10128" y="4974336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24912" y="5111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07608" y="4974336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22392" y="5111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705088" y="4974336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5111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1402568" y="4974336"/>
            <a:ext cx="109728" cy="1097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17352" y="5111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KontainKeeper 项目架构设计方案</dc:title>
  <dc:subject>PptxGenJS Presentation</dc:subject>
  <dc:creator>KontainKeeper</dc:creator>
  <cp:lastModifiedBy>KontainKeeper</cp:lastModifiedBy>
  <cp:revision>1</cp:revision>
  <dcterms:created xsi:type="dcterms:W3CDTF">2026-09-29T04:24:28Z</dcterms:created>
  <dcterms:modified xsi:type="dcterms:W3CDTF">2026-09-29T04:24:28Z</dcterms:modified>
</cp:coreProperties>
</file>